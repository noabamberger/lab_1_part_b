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8" r:id="rId9"/>
    <p:sldId id="27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44F3796-A48A-8E8D-BF7E-F22DC86FC9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58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 בלמ"ס -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i="0" dirty="0">
                <a:solidFill>
                  <a:srgbClr val="9FC0E8"/>
                </a:solidFill>
                <a:latin typeface="Calibri"/>
              </a:rPr>
              <a:t>LAB IN DATA ANALYSIS · PROJECT 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5400" b="1" i="0" dirty="0">
                <a:solidFill>
                  <a:srgbClr val="FFFFFF"/>
                </a:solidFill>
                <a:latin typeface="Calibri"/>
              </a:rPr>
              <a:t>Section 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3000" b="0" i="0" dirty="0">
                <a:solidFill>
                  <a:srgbClr val="CFDFF2"/>
                </a:solidFill>
                <a:latin typeface="Calibri"/>
              </a:rPr>
              <a:t>Hybrid Retrieval + Cross-Encoder Reranking</a:t>
            </a:r>
            <a:endParaRPr lang="en-US" sz="3000" b="0" i="0" dirty="0">
              <a:solidFill>
                <a:srgbClr val="CFDFF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en-US" sz="3000" dirty="0">
              <a:solidFill>
                <a:srgbClr val="CFDFF2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4343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FFFFFF"/>
                </a:solidFill>
                <a:latin typeface="Calibri"/>
              </a:rPr>
              <a:t>Dense (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MiniLM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+ FAISS)  +  lexical BM25  </a:t>
            </a:r>
            <a:r>
              <a:rPr sz="2000" b="1" i="0" dirty="0">
                <a:solidFill>
                  <a:srgbClr val="C87A16"/>
                </a:solidFill>
                <a:latin typeface="Calibri"/>
              </a:rPr>
              <a:t>→  cross-encoder </a:t>
            </a:r>
            <a:r>
              <a:rPr sz="2000" b="1" i="0" dirty="0" err="1">
                <a:solidFill>
                  <a:srgbClr val="C87A16"/>
                </a:solidFill>
                <a:latin typeface="Calibri"/>
              </a:rPr>
              <a:t>rerank</a:t>
            </a:r>
            <a:endParaRPr sz="2000" b="1" i="0" dirty="0">
              <a:solidFill>
                <a:srgbClr val="C87A16"/>
              </a:solidFill>
              <a:latin typeface="Calibr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 i="0" dirty="0">
                <a:solidFill>
                  <a:srgbClr val="AEC4DE"/>
                </a:solidFill>
                <a:latin typeface="Calibri"/>
              </a:rPr>
              <a:t>27,074 Wikipedia-style pages  ·  scored by mean NDCG@10  ·  ≤60 s/query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700" b="1" i="0" dirty="0">
                <a:solidFill>
                  <a:srgbClr val="8FE0B0"/>
                </a:solidFill>
                <a:latin typeface="Calibri"/>
              </a:rPr>
              <a:t>Final public score:  NDCG@10 = 0.4854  (29 queries)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03FD304-F1F2-5AA7-CDB8-8D55240B561E}"/>
              </a:ext>
            </a:extLst>
          </p:cNvPr>
          <p:cNvSpPr txBox="1"/>
          <p:nvPr/>
        </p:nvSpPr>
        <p:spPr>
          <a:xfrm>
            <a:off x="975360" y="6160234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9FC0E8"/>
                </a:solidFill>
                <a:latin typeface="Calibri"/>
              </a:rPr>
              <a:t>Noa Bamberger 211879770 &amp; Someone</a:t>
            </a:r>
            <a:endParaRPr lang="en-US" sz="3000" dirty="0">
              <a:solidFill>
                <a:srgbClr val="CFDFF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THE DATA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What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T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he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C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orpus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 &amp; Queries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A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ctually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L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ooks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L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i="0" dirty="0">
                <a:solidFill>
                  <a:srgbClr val="142A4A"/>
                </a:solidFill>
                <a:latin typeface="Calibri"/>
              </a:rPr>
              <a:t>Two kinds of pages. 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Short </a:t>
            </a:r>
            <a:r>
              <a:rPr sz="1600" b="1" i="0" dirty="0">
                <a:solidFill>
                  <a:srgbClr val="128A86"/>
                </a:solidFill>
                <a:latin typeface="Calibri"/>
              </a:rPr>
              <a:t>synthetic answer pages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restate one queried fact almost verbatim; long </a:t>
            </a:r>
            <a:r>
              <a:rPr sz="1600" b="1" i="0" dirty="0">
                <a:solidFill>
                  <a:srgbClr val="C87A16"/>
                </a:solidFill>
                <a:latin typeface="Calibri"/>
              </a:rPr>
              <a:t>real articles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are distractors. The design targets exactly this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70210"/>
            <a:ext cx="5486400" cy="230003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70210"/>
            <a:ext cx="5486400" cy="254215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70210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Answer page  · 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page_id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20263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18265"/>
            <a:ext cx="5175504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 dirty="0">
                <a:solidFill>
                  <a:srgbClr val="1A1F2B"/>
                </a:solidFill>
                <a:latin typeface="Calibri"/>
              </a:rPr>
              <a:t>Title: Ulric Isenmar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200" b="0" i="1" dirty="0">
                <a:solidFill>
                  <a:srgbClr val="1A1F2B"/>
                </a:solidFill>
                <a:latin typeface="Calibri"/>
              </a:rPr>
              <a:t>“…former professional basketball player best known as point guard of the Los Angeles </a:t>
            </a:r>
            <a:r>
              <a:rPr sz="1200" b="0" i="1" dirty="0" err="1">
                <a:solidFill>
                  <a:srgbClr val="1A1F2B"/>
                </a:solidFill>
                <a:latin typeface="Calibri"/>
              </a:rPr>
              <a:t>Lkers</a:t>
            </a:r>
            <a:r>
              <a:rPr sz="1200" b="0" i="1" dirty="0">
                <a:solidFill>
                  <a:srgbClr val="1A1F2B"/>
                </a:solidFill>
                <a:latin typeface="Calibri"/>
              </a:rPr>
              <a:t> when they won the winter cup finals in 1826. … retired to </a:t>
            </a:r>
            <a:r>
              <a:rPr sz="1200" b="0" i="1" dirty="0" err="1">
                <a:solidFill>
                  <a:srgbClr val="1A1F2B"/>
                </a:solidFill>
                <a:latin typeface="Calibri"/>
              </a:rPr>
              <a:t>Mossenden</a:t>
            </a:r>
            <a:r>
              <a:rPr sz="1200" b="0" i="1" dirty="0">
                <a:solidFill>
                  <a:srgbClr val="1A1F2B"/>
                </a:solidFill>
                <a:latin typeface="Calibri"/>
              </a:rPr>
              <a:t> and funded youth leagues through a community foundation established in 1828.”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i="0" dirty="0">
                <a:solidFill>
                  <a:srgbClr val="2E6FB8"/>
                </a:solidFill>
                <a:latin typeface="Calibri"/>
              </a:rPr>
              <a:t>Query q0: </a:t>
            </a:r>
            <a:r>
              <a:rPr sz="1200" b="0" i="1" dirty="0">
                <a:solidFill>
                  <a:srgbClr val="1A1F2B"/>
                </a:solidFill>
                <a:latin typeface="Calibri"/>
              </a:rPr>
              <a:t>“Who was the point guard that won a seven-game finals series in the 1820s?”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70210"/>
            <a:ext cx="5486400" cy="230003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970210"/>
            <a:ext cx="5486400" cy="254215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006786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Observed data quirks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365956"/>
            <a:ext cx="517550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 i="0" dirty="0">
                <a:solidFill>
                  <a:srgbClr val="142A4A"/>
                </a:solidFill>
                <a:latin typeface="Calibri"/>
              </a:rPr>
              <a:t>Paraphrase gap: 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“seven-game finals series” / “1820s” in the query vs. “winter cup finals” / “1826” on the page.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 i="0" dirty="0">
                <a:solidFill>
                  <a:srgbClr val="142A4A"/>
                </a:solidFill>
                <a:latin typeface="Calibri"/>
              </a:rPr>
              <a:t>Synthetic noise: 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deliberate (“</a:t>
            </a:r>
            <a:r>
              <a:rPr sz="1200" b="0" i="0" dirty="0" err="1">
                <a:solidFill>
                  <a:srgbClr val="1A1F2B"/>
                </a:solidFill>
                <a:latin typeface="Calibri"/>
              </a:rPr>
              <a:t>Lkers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”), invented leagues (“BBA”), placeholder place names.</a:t>
            </a:r>
            <a:r>
              <a:rPr lang="en-US" sz="1200" dirty="0">
                <a:solidFill>
                  <a:srgbClr val="1A1F2B"/>
                </a:solidFill>
              </a:rPr>
              <a:t> misspellings</a:t>
            </a:r>
            <a:endParaRPr sz="12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 i="0" dirty="0">
                <a:solidFill>
                  <a:srgbClr val="142A4A"/>
                </a:solidFill>
                <a:latin typeface="Calibri"/>
              </a:rPr>
              <a:t>Numeric facts: 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page 25051 “</a:t>
            </a:r>
            <a:r>
              <a:rPr sz="1200" b="0" i="0" dirty="0" err="1">
                <a:solidFill>
                  <a:srgbClr val="1A1F2B"/>
                </a:solidFill>
                <a:latin typeface="Calibri"/>
              </a:rPr>
              <a:t>Stoneford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… population of about 1,456,779” answers q2 by an exact number.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i="0" dirty="0">
                <a:solidFill>
                  <a:srgbClr val="C87A16"/>
                </a:solidFill>
                <a:latin typeface="Calibri"/>
              </a:rPr>
              <a:t>Implication: 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need both a semantic signal (paraphrase) and a lexical one (exact years / numbers / coined names).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58445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6963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2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2CCBCD5B-D453-072B-CC3C-7D7B1D7B95B3}"/>
              </a:ext>
            </a:extLst>
          </p:cNvPr>
          <p:cNvSpPr/>
          <p:nvPr/>
        </p:nvSpPr>
        <p:spPr>
          <a:xfrm>
            <a:off x="548640" y="3998194"/>
            <a:ext cx="5486400" cy="236028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D68989F4-12AF-41F0-0222-A66E4A88473A}"/>
              </a:ext>
            </a:extLst>
          </p:cNvPr>
          <p:cNvSpPr/>
          <p:nvPr/>
        </p:nvSpPr>
        <p:spPr>
          <a:xfrm>
            <a:off x="548640" y="3998194"/>
            <a:ext cx="5486400" cy="234001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75D60C62-E27D-4196-A8EA-1858116311E5}"/>
              </a:ext>
            </a:extLst>
          </p:cNvPr>
          <p:cNvSpPr txBox="1"/>
          <p:nvPr/>
        </p:nvSpPr>
        <p:spPr>
          <a:xfrm>
            <a:off x="685800" y="3989050"/>
            <a:ext cx="5257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Single-answer factual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6E2A8E93-5F52-EE5A-CCFA-9601711F18E9}"/>
              </a:ext>
            </a:extLst>
          </p:cNvPr>
          <p:cNvSpPr txBox="1"/>
          <p:nvPr/>
        </p:nvSpPr>
        <p:spPr>
          <a:xfrm>
            <a:off x="704087" y="4368416"/>
            <a:ext cx="5175504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One (or few) gold pages; a clean fact to pin down.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q2 — “What river delta municipality has about 1,456,779 residents?”  →  [25051]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q1 — “Who captained the Los Angeles basketball franchise when they won the 1987 championship?”  →  [9112]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q11 — “Which city hosts light commuter rail and a small regional airport on a fjord-lined coast?”  →  [13249]</a:t>
            </a: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FB4C79A-F1AA-B929-4E05-4ADBBBFF49E8}"/>
              </a:ext>
            </a:extLst>
          </p:cNvPr>
          <p:cNvSpPr/>
          <p:nvPr/>
        </p:nvSpPr>
        <p:spPr>
          <a:xfrm>
            <a:off x="6263640" y="3828429"/>
            <a:ext cx="5486400" cy="273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0F1ECCB0-B147-8B5D-9D7A-4C20682C68E5}"/>
              </a:ext>
            </a:extLst>
          </p:cNvPr>
          <p:cNvSpPr/>
          <p:nvPr/>
        </p:nvSpPr>
        <p:spPr>
          <a:xfrm>
            <a:off x="6272785" y="3982180"/>
            <a:ext cx="5486400" cy="234001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658DA3F7-0922-4213-D8FE-9326C172C1B1}"/>
              </a:ext>
            </a:extLst>
          </p:cNvPr>
          <p:cNvSpPr txBox="1"/>
          <p:nvPr/>
        </p:nvSpPr>
        <p:spPr>
          <a:xfrm>
            <a:off x="6394705" y="3963892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Templated multi-entity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E1BE1933-53B7-AF00-0BF8-ABD0E84DB60C}"/>
              </a:ext>
            </a:extLst>
          </p:cNvPr>
          <p:cNvSpPr txBox="1"/>
          <p:nvPr/>
        </p:nvSpPr>
        <p:spPr>
          <a:xfrm>
            <a:off x="6272785" y="4285629"/>
            <a:ext cx="5340095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“What links X, Y, and Z?” — gold is a whole cluster of near-equivalent pages.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q17 — “What links a captain’s finals performance, his club’s rebuild, and a named home arena?”  →  10 gold pages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q23 — “What links humidity-controlled experiments, bridge monitoring, and a patent pool?”  →  12 gold pages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i="0" dirty="0">
                <a:solidFill>
                  <a:srgbClr val="C87A16"/>
                </a:solidFill>
                <a:latin typeface="Calibri"/>
              </a:rPr>
              <a:t>These stay hard: 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many equivalent answers, no single sharp target — the </a:t>
            </a:r>
            <a:r>
              <a:rPr sz="1200" b="0" i="0" dirty="0" err="1">
                <a:solidFill>
                  <a:srgbClr val="1A1F2B"/>
                </a:solidFill>
                <a:latin typeface="Calibri"/>
              </a:rPr>
              <a:t>reranker</a:t>
            </a:r>
            <a:r>
              <a:rPr sz="1200" b="0" i="0" dirty="0">
                <a:solidFill>
                  <a:srgbClr val="1A1F2B"/>
                </a:solidFill>
                <a:latin typeface="Calibri"/>
              </a:rPr>
              <a:t> mis-orders them, so a hybrid prior is kept.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STEP 1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Dense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R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etrieval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B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aseline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 - (Embedding) &amp; Chunking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74320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1" i="0" dirty="0">
                <a:solidFill>
                  <a:srgbClr val="5C6673"/>
                </a:solidFill>
                <a:latin typeface="Calibri"/>
              </a:rPr>
              <a:t>DENSE ONLY  ·  NDCG@10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2E6FB8"/>
                </a:solidFill>
                <a:latin typeface="Calibri"/>
              </a:rPr>
              <a:t>0.329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76656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2E6FB8"/>
                </a:solidFill>
                <a:latin typeface="Calibri"/>
              </a:rPr>
              <a:t>all-MiniLM-L6-v2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whole-page embeddings, L2-normalized; searched with FAISS </a:t>
            </a:r>
            <a:r>
              <a:rPr sz="1600" b="1" i="0" dirty="0" err="1">
                <a:solidFill>
                  <a:srgbClr val="2E6FB8"/>
                </a:solidFill>
                <a:latin typeface="Calibri"/>
              </a:rPr>
              <a:t>IndexFlatIP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(inner product = cosine). Exact, full ranking.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28A86"/>
                </a:solidFill>
                <a:latin typeface="Calibri"/>
              </a:rPr>
              <a:t>Whole-page units beat windowed chunks. 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Answer pages are short; max-pooling over windows let a long distractor win on a stray window (early test: 0.174 windowed vs. 0.224 </a:t>
            </a:r>
            <a:r>
              <a:rPr sz="1600" b="1" i="0" dirty="0">
                <a:solidFill>
                  <a:srgbClr val="1A1F2B"/>
                </a:solidFill>
                <a:latin typeface="Calibri"/>
              </a:rPr>
              <a:t>whole-page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C87A16"/>
                </a:solidFill>
                <a:latin typeface="Calibri"/>
              </a:rPr>
              <a:t>Conclusion: 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strong semantic recall, but paraphrase blur loses exact facts (years, populations, coined names). Needs a lexical partner.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5146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9520" y="2514600"/>
            <a:ext cx="4114800" cy="384048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80" y="2551176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Where dense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71800"/>
            <a:ext cx="39684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 dirty="0">
                <a:solidFill>
                  <a:srgbClr val="2E6FB8"/>
                </a:solidFill>
                <a:latin typeface="Calibri"/>
              </a:rPr>
              <a:t>q2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“…about 1,456,779 residents?” — embeddings blur </a:t>
            </a:r>
            <a:r>
              <a:rPr sz="1300" b="1" i="0" dirty="0">
                <a:solidFill>
                  <a:srgbClr val="1A1F2B"/>
                </a:solidFill>
                <a:latin typeface="Calibri"/>
              </a:rPr>
              <a:t>the exact number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, so the right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Stoneford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page is not pinned to the top by meaning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3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STEP 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Lexical BM25 +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C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orpus-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s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pecific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F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74320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1" i="0" dirty="0">
                <a:solidFill>
                  <a:srgbClr val="5C6673"/>
                </a:solidFill>
                <a:latin typeface="Calibri"/>
              </a:rPr>
              <a:t>BM25 ONLY (tuned)  ·  NDCG@10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128A86"/>
                </a:solidFill>
                <a:latin typeface="Calibri"/>
              </a:rPr>
              <a:t>0.422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274320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109728" cy="868680"/>
          </a:xfrm>
          <a:prstGeom prst="rect">
            <a:avLst/>
          </a:prstGeom>
          <a:solidFill>
            <a:srgbClr val="5C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1472184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1" i="0" dirty="0">
                <a:solidFill>
                  <a:srgbClr val="5C6673"/>
                </a:solidFill>
                <a:latin typeface="Calibri"/>
              </a:rPr>
              <a:t>recall@100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5C6673"/>
                </a:solidFill>
                <a:latin typeface="Calibri"/>
              </a:rPr>
              <a:t>0.93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676656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28A86"/>
                </a:solidFill>
                <a:latin typeface="Calibri"/>
              </a:rPr>
              <a:t>Custom NumPy BM25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 (k1=2.0, b=0.75) with a term-major inverted index — query scoring is a few postings lookups, independent of corpus size.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28A86"/>
                </a:solidFill>
                <a:latin typeface="Calibri"/>
              </a:rPr>
              <a:t>Porter stemming: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“negotiator” / “negotiations” → </a:t>
            </a:r>
            <a:r>
              <a:rPr sz="1500" b="1" i="0" dirty="0" err="1">
                <a:solidFill>
                  <a:srgbClr val="2E6FB8"/>
                </a:solidFill>
                <a:latin typeface="Calibri"/>
              </a:rPr>
              <a:t>negoti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. </a:t>
            </a:r>
            <a:endParaRPr lang="en-US" sz="15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500" dirty="0">
                <a:solidFill>
                  <a:srgbClr val="1A1F2B"/>
                </a:solidFill>
                <a:latin typeface="Calibri"/>
              </a:rPr>
              <a:t>	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Raised recall@100</a:t>
            </a:r>
            <a:r>
              <a:rPr lang="en-US" sz="1500" dirty="0">
                <a:solidFill>
                  <a:srgbClr val="1A1F2B"/>
                </a:solidFill>
                <a:latin typeface="Calibri"/>
              </a:rPr>
              <a:t> 0.92</a:t>
            </a:r>
            <a:r>
              <a:rPr lang="en-US" sz="1500" dirty="0">
                <a:solidFill>
                  <a:srgbClr val="1A1F2B"/>
                </a:solidFill>
              </a:rPr>
              <a:t> →0.93</a:t>
            </a:r>
            <a:endParaRPr sz="15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28A86"/>
                </a:solidFill>
                <a:latin typeface="Calibri"/>
              </a:rPr>
              <a:t>Decade tokens: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“1826” and “1820s” both emit </a:t>
            </a:r>
            <a:r>
              <a:rPr sz="1500" b="1" i="0" dirty="0">
                <a:solidFill>
                  <a:srgbClr val="2E6FB8"/>
                </a:solidFill>
                <a:latin typeface="Calibri"/>
              </a:rPr>
              <a:t>182x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 — a decade query matches an exact-year page (q0).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28A86"/>
                </a:solidFill>
                <a:latin typeface="Calibri"/>
              </a:rPr>
              <a:t>Word bigrams: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“</a:t>
            </a:r>
            <a:r>
              <a:rPr sz="1500" b="1" i="0" dirty="0">
                <a:solidFill>
                  <a:srgbClr val="2E6FB8"/>
                </a:solidFill>
                <a:latin typeface="Calibri"/>
              </a:rPr>
              <a:t>point guard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”, “</a:t>
            </a:r>
            <a:r>
              <a:rPr sz="1500" b="1" i="0" dirty="0">
                <a:solidFill>
                  <a:srgbClr val="2E6FB8"/>
                </a:solidFill>
                <a:latin typeface="Calibri"/>
              </a:rPr>
              <a:t>cold-water fisheries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” match as phrases, not loose words.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28A86"/>
                </a:solidFill>
                <a:latin typeface="Calibri"/>
              </a:rPr>
              <a:t>Numeric tokens kept intact: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“1,456,779” matches q2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51460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514600"/>
            <a:ext cx="4114800" cy="384048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80" y="2551176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Did we try lemmatization?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971800"/>
            <a:ext cx="3968496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 b="1" i="0" dirty="0">
                <a:solidFill>
                  <a:srgbClr val="C87A16"/>
                </a:solidFill>
                <a:latin typeface="Calibri"/>
              </a:rPr>
              <a:t>No.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A real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lemmatizer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spaCy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/ NLTK WordNet) adds a disallowed dependency and POS tagging — heavy for the runtime path.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 dirty="0">
                <a:solidFill>
                  <a:srgbClr val="1A1F2B"/>
                </a:solidFill>
                <a:latin typeface="Calibri"/>
              </a:rPr>
              <a:t>Porter stemming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is dependency-free (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stdlib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) and already collapses the morphological variants that matter here. Lemmatization’s extra precision wasn’t worth the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4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F05B71B-AFA5-F90F-C706-981F1A33CEEF}"/>
              </a:ext>
            </a:extLst>
          </p:cNvPr>
          <p:cNvSpPr txBox="1"/>
          <p:nvPr/>
        </p:nvSpPr>
        <p:spPr>
          <a:xfrm>
            <a:off x="6519672" y="1426464"/>
            <a:ext cx="5440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US" sz="14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lang="en-US" sz="1400" b="1" i="0" dirty="0" err="1">
                <a:solidFill>
                  <a:srgbClr val="2E6FB8"/>
                </a:solidFill>
                <a:latin typeface="Calibri"/>
              </a:rPr>
              <a:t>Recall@k</a:t>
            </a:r>
            <a:r>
              <a:rPr lang="en-US" sz="1400" b="1" i="0" dirty="0">
                <a:solidFill>
                  <a:srgbClr val="2E6FB8"/>
                </a:solidFill>
                <a:latin typeface="Calibri"/>
              </a:rPr>
              <a:t> + oracle ceiling: </a:t>
            </a:r>
            <a:r>
              <a:rPr lang="en-US" sz="1400" b="0" i="0" dirty="0">
                <a:solidFill>
                  <a:srgbClr val="1A1F2B"/>
                </a:solidFill>
                <a:latin typeface="Calibri"/>
              </a:rPr>
              <a:t>how many gold pages are in the top-k pool, and the best NDCG@10 a perfect </a:t>
            </a:r>
            <a:r>
              <a:rPr lang="en-US" sz="1400" b="0" i="0" dirty="0" err="1">
                <a:solidFill>
                  <a:srgbClr val="1A1F2B"/>
                </a:solidFill>
                <a:latin typeface="Calibri"/>
              </a:rPr>
              <a:t>reranker</a:t>
            </a:r>
            <a:r>
              <a:rPr lang="en-US" sz="1400" b="0" i="0" dirty="0">
                <a:solidFill>
                  <a:srgbClr val="1A1F2B"/>
                </a:solidFill>
                <a:latin typeface="Calibri"/>
              </a:rPr>
              <a:t> over that pool could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STEP 3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Hybrid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F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usion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Retrieval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—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D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ense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&amp;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L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exical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74320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1" i="0" dirty="0">
                <a:solidFill>
                  <a:srgbClr val="5C6673"/>
                </a:solidFill>
                <a:latin typeface="Calibri"/>
              </a:rPr>
              <a:t>HYBRID (α=0.7)  ·  NDCG@10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2E6FB8"/>
                </a:solidFill>
                <a:latin typeface="Calibri"/>
              </a:rPr>
              <a:t>0.447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514600"/>
            <a:ext cx="6827520" cy="21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0" i="0" dirty="0">
                <a:solidFill>
                  <a:srgbClr val="1A1F2B"/>
                </a:solidFill>
                <a:latin typeface="Calibri"/>
              </a:rPr>
              <a:t>Each signal is </a:t>
            </a:r>
            <a:r>
              <a:rPr sz="1700" b="1" i="0" dirty="0">
                <a:solidFill>
                  <a:srgbClr val="2E6FB8"/>
                </a:solidFill>
                <a:latin typeface="Calibri"/>
              </a:rPr>
              <a:t>per-query min-max normalized</a:t>
            </a:r>
            <a:r>
              <a:rPr sz="1700" b="0" i="0" dirty="0">
                <a:solidFill>
                  <a:srgbClr val="1A1F2B"/>
                </a:solidFill>
                <a:latin typeface="Calibri"/>
              </a:rPr>
              <a:t>, then fused:</a:t>
            </a: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sz="17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2E6FB8"/>
                </a:solidFill>
                <a:latin typeface="Calibri"/>
              </a:rPr>
              <a:t>Per-query normalization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 matters: raw dense (cosine) and BM25 scores live on different scales; normalizing per query makes the blend meaningful.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C87A16"/>
                </a:solidFill>
                <a:latin typeface="Calibri"/>
              </a:rPr>
              <a:t>Tune end-to-end, not stage-by-stage: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α=0.7 slightly lowers the pure hybrid vs α=0.6 (0.447 vs 0.450), but a dense-leaning pool </a:t>
            </a:r>
            <a:r>
              <a:rPr lang="en-US" sz="1500" b="1" i="0" dirty="0">
                <a:solidFill>
                  <a:srgbClr val="1A1F2B"/>
                </a:solidFill>
                <a:latin typeface="Calibri"/>
              </a:rPr>
              <a:t>tends less towards overfitting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000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2E6FB8"/>
                </a:solidFill>
                <a:latin typeface="Calibri"/>
              </a:rPr>
              <a:t>final = 0.7 · dense</a:t>
            </a:r>
            <a:r>
              <a:rPr lang="en-US" sz="2000" b="1" i="0" dirty="0">
                <a:solidFill>
                  <a:srgbClr val="2E6FB8"/>
                </a:solidFill>
                <a:latin typeface="Calibri"/>
              </a:rPr>
              <a:t> (semantic)</a:t>
            </a:r>
            <a:r>
              <a:rPr sz="2000" b="1" i="0" dirty="0">
                <a:solidFill>
                  <a:srgbClr val="128A86"/>
                </a:solidFill>
                <a:latin typeface="Calibri"/>
              </a:rPr>
              <a:t>  +  0.3 · bm25</a:t>
            </a:r>
            <a:r>
              <a:rPr lang="en-US" sz="2000" b="1" i="0" dirty="0">
                <a:solidFill>
                  <a:srgbClr val="128A86"/>
                </a:solidFill>
                <a:latin typeface="Calibri"/>
              </a:rPr>
              <a:t> (lexical)</a:t>
            </a:r>
            <a:endParaRPr sz="2000" b="1" i="0" dirty="0">
              <a:solidFill>
                <a:srgbClr val="128A86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0" y="251460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2514600"/>
            <a:ext cx="4114800" cy="384048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2551176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both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71800"/>
            <a:ext cx="3968496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Dense recovers paraphrases; BM25 nails exact years, numbers, and coined phrases.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Complementary errors → fusing them lifts NDCG@10 above either alone (0.329 / 0.422 → 0.447).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5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DIAGNOSIS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Recall is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H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igh —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O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rdering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I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s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T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he </a:t>
            </a:r>
            <a:r>
              <a:rPr lang="en-US" sz="2600" b="1" dirty="0">
                <a:solidFill>
                  <a:srgbClr val="FFFFFF"/>
                </a:solidFill>
                <a:latin typeface="Calibri"/>
              </a:rPr>
              <a:t>B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287475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depth k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115" y="1554480"/>
            <a:ext cx="2106777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mean recall@k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2892" y="1554480"/>
            <a:ext cx="2457907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oracle NDCG@10 (perfect ordering)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12874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300" b="0" i="0" dirty="0">
                <a:solidFill>
                  <a:srgbClr val="1A1F2B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836115" y="1938528"/>
            <a:ext cx="210677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2892" y="1938528"/>
            <a:ext cx="245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22576"/>
            <a:ext cx="1287475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300" b="0" i="0">
                <a:solidFill>
                  <a:srgbClr val="1A1F2B"/>
                </a:solidFill>
                <a:latin typeface="Calibri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6115" y="2322576"/>
            <a:ext cx="2106777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>
                <a:solidFill>
                  <a:srgbClr val="1A1F2B"/>
                </a:solidFill>
                <a:latin typeface="Calibri"/>
              </a:rPr>
              <a:t>0.75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2892" y="2322576"/>
            <a:ext cx="2457907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06624"/>
            <a:ext cx="12874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300" b="0" i="0" dirty="0">
                <a:solidFill>
                  <a:srgbClr val="1A1F2B"/>
                </a:solidFill>
                <a:latin typeface="Calibri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115" y="2706624"/>
            <a:ext cx="210677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>
                <a:solidFill>
                  <a:srgbClr val="1A1F2B"/>
                </a:solidFill>
                <a:latin typeface="Calibri"/>
              </a:rPr>
              <a:t>0.89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42892" y="2706624"/>
            <a:ext cx="245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0.91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90672"/>
            <a:ext cx="1287475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300" b="0" i="0" dirty="0">
                <a:solidFill>
                  <a:srgbClr val="1A1F2B"/>
                </a:solidFill>
                <a:latin typeface="Calibri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36115" y="3090672"/>
            <a:ext cx="2106777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42892" y="3090672"/>
            <a:ext cx="2457907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300" b="0" i="0" dirty="0">
                <a:solidFill>
                  <a:srgbClr val="1A1F2B"/>
                </a:solidFill>
                <a:latin typeface="Calibri"/>
              </a:rPr>
              <a:t>0.94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42A4A"/>
                </a:solidFill>
                <a:latin typeface="Calibri"/>
              </a:rPr>
              <a:t>The gap is ordering, not recall. 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Gold pages are usually in the top-100 pool (0.93), and a perfect </a:t>
            </a:r>
            <a:r>
              <a:rPr sz="1600" b="0" i="0" dirty="0" err="1">
                <a:solidFill>
                  <a:srgbClr val="1A1F2B"/>
                </a:solidFill>
                <a:latin typeface="Calibri"/>
              </a:rPr>
              <a:t>reranker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could reach 0.94 — yet the hybrid scores only ~0.45.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C87A16"/>
                </a:solidFill>
                <a:latin typeface="Calibri"/>
              </a:rPr>
              <a:t>Almost the entire headroom is re-ordering the pool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— exactly what a cross-encoder does.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100% recall is unreachable: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one gold page sits at fused rank ~12,500, and templated queries match whole clusters.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28A86"/>
                </a:solidFill>
                <a:latin typeface="Calibri"/>
              </a:rPr>
              <a:t>Decision: </a:t>
            </a:r>
            <a:r>
              <a:rPr sz="1600" b="0" i="0" dirty="0" err="1">
                <a:solidFill>
                  <a:srgbClr val="1A1F2B"/>
                </a:solidFill>
                <a:latin typeface="Calibri"/>
              </a:rPr>
              <a:t>rerank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a pool of ~100–120 candidates. Deeper adds noise; shallower loses recall.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6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STEP 4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Cross-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E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ncoder </a:t>
            </a:r>
            <a:r>
              <a:rPr lang="en-US" sz="2600" b="1" i="0" dirty="0" err="1">
                <a:solidFill>
                  <a:srgbClr val="FFFFFF"/>
                </a:solidFill>
                <a:latin typeface="Calibri"/>
              </a:rPr>
              <a:t>R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eranker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9184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1" i="0" dirty="0">
                <a:solidFill>
                  <a:srgbClr val="5C6673"/>
                </a:solidFill>
                <a:latin typeface="Calibri"/>
              </a:rPr>
              <a:t>+ RERANKER (blend 0.</a:t>
            </a:r>
            <a:r>
              <a:rPr lang="en-US" sz="1200" b="1" dirty="0">
                <a:solidFill>
                  <a:srgbClr val="5C6673"/>
                </a:solidFill>
                <a:latin typeface="Calibri"/>
              </a:rPr>
              <a:t>5</a:t>
            </a:r>
            <a:r>
              <a:rPr sz="1200" b="1" i="0" dirty="0">
                <a:solidFill>
                  <a:srgbClr val="5C6673"/>
                </a:solidFill>
                <a:latin typeface="Calibri"/>
              </a:rPr>
              <a:t>)  ·  NDCG@10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1E7A3C"/>
                </a:solidFill>
                <a:latin typeface="Calibri"/>
              </a:rPr>
              <a:t>0.469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76656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E7A3C"/>
                </a:solidFill>
                <a:latin typeface="Calibri"/>
              </a:rPr>
              <a:t>cross-encoder/ms-marco-MiniLM-L-6-v2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reads each (query, page) pair jointly and rescores the top fused candidates.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C87A16"/>
                </a:solidFill>
                <a:latin typeface="Calibri"/>
              </a:rPr>
              <a:t>Blend, don’t replace:</a:t>
            </a:r>
            <a:r>
              <a:rPr lang="en-US" sz="1600" b="1" dirty="0">
                <a:solidFill>
                  <a:srgbClr val="C87A16"/>
                </a:solidFill>
                <a:latin typeface="Calibri"/>
              </a:rPr>
              <a:t> </a:t>
            </a:r>
            <a:r>
              <a:rPr lang="en-US" sz="1600" dirty="0">
                <a:latin typeface="Calibri"/>
              </a:rPr>
              <a:t>CE helped the single-answered queries but hurt some of the multi-answer queries, so we decided to blend them.</a:t>
            </a:r>
            <a:endParaRPr sz="1600" i="0" dirty="0">
              <a:solidFill>
                <a:srgbClr val="C87A16"/>
              </a:solidFill>
              <a:latin typeface="Calibri"/>
            </a:endParaRP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sz="1600" b="1" i="0" dirty="0">
              <a:solidFill>
                <a:srgbClr val="C87A16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1E7A3C"/>
                </a:solidFill>
                <a:latin typeface="Calibri"/>
              </a:rPr>
              <a:t>Small (~80 MB) 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so its download + load + inference fit the 60 s budget — seconds on the grading GPU.</a:t>
            </a:r>
            <a:endParaRPr lang="en-US" sz="15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500" b="1" dirty="0">
                <a:solidFill>
                  <a:srgbClr val="5C6673"/>
                </a:solidFill>
              </a:rPr>
              <a:t>	• </a:t>
            </a:r>
            <a:r>
              <a:rPr lang="en-US" sz="1500" dirty="0">
                <a:solidFill>
                  <a:srgbClr val="5C6673"/>
                </a:solidFill>
              </a:rPr>
              <a:t>It was also better than a larger (BGE) cross-encoder.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1500" dirty="0">
              <a:solidFill>
                <a:srgbClr val="1A1F2B"/>
              </a:solidFill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1500" dirty="0">
              <a:solidFill>
                <a:srgbClr val="1A1F2B"/>
              </a:solidFill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1500" b="0" i="0" dirty="0">
              <a:solidFill>
                <a:srgbClr val="1A1F2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sz="1500" b="0" i="0" dirty="0">
              <a:solidFill>
                <a:srgbClr val="1A1F2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734092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 i="0" dirty="0">
                <a:solidFill>
                  <a:srgbClr val="1E7A3C"/>
                </a:solidFill>
                <a:latin typeface="Calibri"/>
              </a:rPr>
              <a:t>score = 0.</a:t>
            </a:r>
            <a:r>
              <a:rPr lang="en-US" sz="2000" b="1" i="0" dirty="0">
                <a:solidFill>
                  <a:srgbClr val="1E7A3C"/>
                </a:solidFill>
                <a:latin typeface="Calibri"/>
              </a:rPr>
              <a:t>5</a:t>
            </a:r>
            <a:r>
              <a:rPr sz="2000" b="1" i="0" dirty="0">
                <a:solidFill>
                  <a:srgbClr val="1E7A3C"/>
                </a:solidFill>
                <a:latin typeface="Calibri"/>
              </a:rPr>
              <a:t> · </a:t>
            </a:r>
            <a:r>
              <a:rPr sz="2000" b="1" i="0" dirty="0" err="1">
                <a:solidFill>
                  <a:srgbClr val="1E7A3C"/>
                </a:solidFill>
                <a:latin typeface="Calibri"/>
              </a:rPr>
              <a:t>reranker</a:t>
            </a:r>
            <a:r>
              <a:rPr sz="2000" b="1" i="0" dirty="0">
                <a:solidFill>
                  <a:srgbClr val="2E6FB8"/>
                </a:solidFill>
                <a:latin typeface="Calibri"/>
              </a:rPr>
              <a:t>  +  0.</a:t>
            </a:r>
            <a:r>
              <a:rPr lang="en-US" sz="2000" b="1" i="0" dirty="0">
                <a:solidFill>
                  <a:srgbClr val="2E6FB8"/>
                </a:solidFill>
                <a:latin typeface="Calibri"/>
              </a:rPr>
              <a:t>5</a:t>
            </a:r>
            <a:r>
              <a:rPr sz="2000" b="1" i="0" dirty="0">
                <a:solidFill>
                  <a:srgbClr val="2E6FB8"/>
                </a:solidFill>
                <a:latin typeface="Calibri"/>
              </a:rPr>
              <a:t> · hybrid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5146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2514600"/>
            <a:ext cx="4114800" cy="384048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2551176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Example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71800"/>
            <a:ext cx="396849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 b="1" i="0" dirty="0">
                <a:solidFill>
                  <a:srgbClr val="2E6FB8"/>
                </a:solidFill>
                <a:latin typeface="Calibri"/>
              </a:rPr>
              <a:t>q0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“point guard … 1820s”: the cross-encoder reads the Ulric Isenmar page jointly with the query and lifts it from the candidate pool to the top.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 i="0" dirty="0">
                <a:solidFill>
                  <a:srgbClr val="1A1F2B"/>
                </a:solidFill>
                <a:latin typeface="Calibri"/>
              </a:rPr>
              <a:t>On clean single-answer queries the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reranker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jumps one case </a:t>
            </a:r>
            <a:r>
              <a:rPr sz="1300" b="1" i="0" dirty="0">
                <a:solidFill>
                  <a:srgbClr val="1E7A3C"/>
                </a:solidFill>
                <a:latin typeface="Calibri"/>
              </a:rPr>
              <a:t>0.63 → 1.00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7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9FC0E8"/>
                </a:solidFill>
                <a:latin typeface="Calibri"/>
              </a:rPr>
              <a:t>RESULTS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Evaluation Summary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P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ublic 29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Q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ueries,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M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ean NDCG@10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6859828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8468" y="1600200"/>
            <a:ext cx="2212848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NDCG@10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1316" y="1600200"/>
            <a:ext cx="1991563" cy="384048"/>
          </a:xfrm>
          <a:prstGeom prst="rect">
            <a:avLst/>
          </a:prstGeom>
          <a:solidFill>
            <a:srgbClr val="142A4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84248"/>
            <a:ext cx="68598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0" i="0" dirty="0">
                <a:solidFill>
                  <a:srgbClr val="1A1F2B"/>
                </a:solidFill>
                <a:latin typeface="Calibri"/>
              </a:rPr>
              <a:t>Dense only (whole page)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8468" y="1984248"/>
            <a:ext cx="22128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0.329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1316" y="1984248"/>
            <a:ext cx="199156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68296"/>
            <a:ext cx="6859828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0" i="0" dirty="0">
                <a:solidFill>
                  <a:srgbClr val="1A1F2B"/>
                </a:solidFill>
                <a:latin typeface="Calibri"/>
              </a:rPr>
              <a:t>BM25 only (stemmed, k1=2.0, +decade +bigram)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8468" y="2368296"/>
            <a:ext cx="2212848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0.422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1316" y="2368296"/>
            <a:ext cx="1991563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+0.093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52344"/>
            <a:ext cx="68598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0" i="0">
                <a:solidFill>
                  <a:srgbClr val="1A1F2B"/>
                </a:solidFill>
                <a:latin typeface="Calibri"/>
              </a:rPr>
              <a:t>Hybrid  ·  0.7·dense + 0.3·BM25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8468" y="2752344"/>
            <a:ext cx="22128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0.447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1316" y="2752344"/>
            <a:ext cx="199156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+0.025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36391"/>
            <a:ext cx="6859828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0" i="0" dirty="0">
                <a:solidFill>
                  <a:srgbClr val="1A1F2B"/>
                </a:solidFill>
                <a:latin typeface="Calibri"/>
              </a:rPr>
              <a:t>+ cross-encoder </a:t>
            </a:r>
            <a:r>
              <a:rPr sz="1600" b="0" i="0" dirty="0" err="1">
                <a:solidFill>
                  <a:srgbClr val="1A1F2B"/>
                </a:solidFill>
                <a:latin typeface="Calibri"/>
              </a:rPr>
              <a:t>reranker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 (blend 0.</a:t>
            </a:r>
            <a:r>
              <a:rPr lang="en-US" sz="1600" dirty="0">
                <a:solidFill>
                  <a:srgbClr val="1A1F2B"/>
                </a:solidFill>
                <a:latin typeface="Calibri"/>
              </a:rPr>
              <a:t>5</a:t>
            </a:r>
            <a:r>
              <a:rPr sz="1600" b="0" i="0" dirty="0">
                <a:solidFill>
                  <a:srgbClr val="1A1F2B"/>
                </a:solidFill>
                <a:latin typeface="Calibri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8468" y="3136391"/>
            <a:ext cx="2212848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0.469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1316" y="3136391"/>
            <a:ext cx="1991563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0" i="0">
                <a:solidFill>
                  <a:srgbClr val="1A1F2B"/>
                </a:solidFill>
                <a:latin typeface="Calibri"/>
              </a:rPr>
              <a:t>+0.022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6859828" cy="384048"/>
          </a:xfrm>
          <a:prstGeom prst="rect">
            <a:avLst/>
          </a:prstGeom>
          <a:solidFill>
            <a:srgbClr val="DCECDC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/>
            <a:r>
              <a:rPr sz="1600" b="1" i="0" dirty="0">
                <a:solidFill>
                  <a:srgbClr val="142A4A"/>
                </a:solidFill>
                <a:latin typeface="Calibri"/>
              </a:rPr>
              <a:t>+ </a:t>
            </a:r>
            <a:r>
              <a:rPr sz="1600" b="1" i="0" dirty="0" err="1">
                <a:solidFill>
                  <a:srgbClr val="142A4A"/>
                </a:solidFill>
                <a:latin typeface="Calibri"/>
              </a:rPr>
              <a:t>Optuna</a:t>
            </a:r>
            <a:r>
              <a:rPr sz="1600" b="1" i="0" dirty="0">
                <a:solidFill>
                  <a:srgbClr val="142A4A"/>
                </a:solidFill>
                <a:latin typeface="Calibri"/>
              </a:rPr>
              <a:t>-tuned (blend 0.6, pool 120) —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8468" y="3520440"/>
            <a:ext cx="2212848" cy="384048"/>
          </a:xfrm>
          <a:prstGeom prst="rect">
            <a:avLst/>
          </a:prstGeom>
          <a:solidFill>
            <a:srgbClr val="DCECDC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1" i="0">
                <a:solidFill>
                  <a:srgbClr val="142A4A"/>
                </a:solidFill>
                <a:latin typeface="Calibri"/>
              </a:rPr>
              <a:t>0.485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1316" y="3520440"/>
            <a:ext cx="1991563" cy="384048"/>
          </a:xfrm>
          <a:prstGeom prst="rect">
            <a:avLst/>
          </a:prstGeom>
          <a:solidFill>
            <a:srgbClr val="DCECDC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ctr"/>
            <a:r>
              <a:rPr sz="1600" b="1" i="0" dirty="0">
                <a:solidFill>
                  <a:srgbClr val="142A4A"/>
                </a:solidFill>
                <a:latin typeface="Calibri"/>
              </a:rPr>
              <a:t>+0.016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1000" b="0" i="0" dirty="0">
                <a:solidFill>
                  <a:srgbClr val="5C6673"/>
                </a:solidFill>
                <a:latin typeface="Calibri"/>
              </a:rPr>
              <a:t>8</a:t>
            </a:r>
            <a:endParaRPr sz="1000" b="0" i="0" dirty="0">
              <a:solidFill>
                <a:srgbClr val="5C6673"/>
              </a:solidFill>
              <a:latin typeface="Calibri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B607771E-03D2-9059-CCE1-743FE03804EE}"/>
              </a:ext>
            </a:extLst>
          </p:cNvPr>
          <p:cNvSpPr/>
          <p:nvPr/>
        </p:nvSpPr>
        <p:spPr>
          <a:xfrm>
            <a:off x="4116628" y="4432393"/>
            <a:ext cx="329184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D11229F0-3085-8AC1-06B9-3D2AA1DC85BC}"/>
              </a:ext>
            </a:extLst>
          </p:cNvPr>
          <p:cNvSpPr/>
          <p:nvPr/>
        </p:nvSpPr>
        <p:spPr>
          <a:xfrm>
            <a:off x="4116628" y="4432393"/>
            <a:ext cx="109728" cy="8686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471B6F6E-DD26-1F25-0D21-6B8745884526}"/>
              </a:ext>
            </a:extLst>
          </p:cNvPr>
          <p:cNvSpPr txBox="1"/>
          <p:nvPr/>
        </p:nvSpPr>
        <p:spPr>
          <a:xfrm>
            <a:off x="4345228" y="4487257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5C6673"/>
                </a:solidFill>
                <a:latin typeface="Calibri"/>
              </a:rPr>
              <a:t>Query Phase Time</a:t>
            </a:r>
            <a:endParaRPr sz="1200" b="1" i="0" dirty="0">
              <a:solidFill>
                <a:srgbClr val="5C6673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1E7A3C"/>
                </a:solidFill>
                <a:latin typeface="Calibri"/>
              </a:rPr>
              <a:t>28.06 seconds</a:t>
            </a:r>
            <a:endParaRPr sz="2400" b="1" i="0" dirty="0">
              <a:solidFill>
                <a:srgbClr val="1E7A3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7499-9E3A-65E1-01D2-882EC04E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50D686-B8E1-42FE-2C54-FB266F0DD751}"/>
              </a:ext>
            </a:extLst>
          </p:cNvPr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15D43-75E3-FA13-79AA-619BA7F013CA}"/>
              </a:ext>
            </a:extLst>
          </p:cNvPr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289F6-CF15-6DF4-B678-87F864595068}"/>
              </a:ext>
            </a:extLst>
          </p:cNvPr>
          <p:cNvSpPr txBox="1"/>
          <p:nvPr/>
        </p:nvSpPr>
        <p:spPr>
          <a:xfrm>
            <a:off x="548640" y="109728"/>
            <a:ext cx="11064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sz="1300" b="1" i="0" dirty="0">
                <a:solidFill>
                  <a:srgbClr val="9FC0E8"/>
                </a:solidFill>
                <a:latin typeface="Calibri"/>
              </a:rPr>
              <a:t>Evaluation</a:t>
            </a:r>
            <a:endParaRPr sz="1300" b="1" i="0" dirty="0">
              <a:solidFill>
                <a:srgbClr val="9FC0E8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Test Case Study: Rephrasing The Queries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2406F-755D-3EB6-E09F-E12B2B79FE9F}"/>
              </a:ext>
            </a:extLst>
          </p:cNvPr>
          <p:cNvSpPr/>
          <p:nvPr/>
        </p:nvSpPr>
        <p:spPr>
          <a:xfrm>
            <a:off x="548640" y="1331898"/>
            <a:ext cx="3291840" cy="8686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A2B30-826E-C8B5-7F75-2EA24B3E5417}"/>
              </a:ext>
            </a:extLst>
          </p:cNvPr>
          <p:cNvSpPr/>
          <p:nvPr/>
        </p:nvSpPr>
        <p:spPr>
          <a:xfrm>
            <a:off x="548640" y="1331898"/>
            <a:ext cx="109728" cy="8686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B905A-B806-10CD-309E-E23C3A7C9B89}"/>
              </a:ext>
            </a:extLst>
          </p:cNvPr>
          <p:cNvSpPr txBox="1"/>
          <p:nvPr/>
        </p:nvSpPr>
        <p:spPr>
          <a:xfrm>
            <a:off x="777240" y="1386762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C6673"/>
                </a:solidFill>
                <a:latin typeface="Calibri"/>
              </a:rPr>
              <a:t>NEW Queries  ·  NDCG@10</a:t>
            </a:r>
            <a:endParaRPr sz="1200" b="1" i="0" dirty="0">
              <a:solidFill>
                <a:srgbClr val="5C6673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1E7A3C"/>
                </a:solidFill>
                <a:latin typeface="Calibri"/>
              </a:rPr>
              <a:t>0.352</a:t>
            </a:r>
            <a:endParaRPr sz="2400" b="1" i="0" dirty="0">
              <a:solidFill>
                <a:srgbClr val="1E7A3C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3990B-64DA-6E98-F0E0-0748522F4F62}"/>
              </a:ext>
            </a:extLst>
          </p:cNvPr>
          <p:cNvSpPr txBox="1"/>
          <p:nvPr/>
        </p:nvSpPr>
        <p:spPr>
          <a:xfrm>
            <a:off x="548640" y="2200578"/>
            <a:ext cx="676656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To further validate our results and ensure we didn’t overfit the given small sample of queries, we generated a new query set of our own.</a:t>
            </a:r>
            <a:endParaRPr lang="en-US" sz="1500" dirty="0">
              <a:solidFill>
                <a:srgbClr val="1A1F2B"/>
              </a:solidFill>
              <a:latin typeface="Calibri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The original query set was too small to perform cross-validation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The original query set was also generated (according to forum)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5C6673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We used an LLM (Gemini 3.5 Flash) to rephrase the given queries while maintaining the semantic meaning.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This allowed us to assume that the relevance judgements will remain the same, so we use the same labeling.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1600" b="1" dirty="0">
              <a:solidFill>
                <a:srgbClr val="5C6673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Conclusion: since our lexical retriever now receives many out-of-corpus words, these results are reasonable and still appear to be good.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5C6673"/>
                </a:solidFill>
                <a:latin typeface="Calibri"/>
              </a:rPr>
              <a:t>Also, we can’t be absolutely sure that the relevance judgements are still exactly the same.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AE0A40-DEDD-A4A2-F274-DAB94EB462E2}"/>
              </a:ext>
            </a:extLst>
          </p:cNvPr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5C6673"/>
                </a:solidFill>
                <a:latin typeface="Calibri"/>
              </a:rPr>
              <a:t>Lab in Data Analysis · Section B — Hybrid Retrieval + Reranking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3FA8A01-82DE-7068-CC07-7B6E772090ED}"/>
              </a:ext>
            </a:extLst>
          </p:cNvPr>
          <p:cNvSpPr/>
          <p:nvPr/>
        </p:nvSpPr>
        <p:spPr>
          <a:xfrm>
            <a:off x="7882128" y="231343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AEEFB520-210B-D7B5-7A7F-64D851B1C953}"/>
              </a:ext>
            </a:extLst>
          </p:cNvPr>
          <p:cNvSpPr/>
          <p:nvPr/>
        </p:nvSpPr>
        <p:spPr>
          <a:xfrm>
            <a:off x="7882128" y="2313432"/>
            <a:ext cx="4114800" cy="384048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BABEB26-0621-E14A-EE72-55084B002A38}"/>
              </a:ext>
            </a:extLst>
          </p:cNvPr>
          <p:cNvSpPr txBox="1"/>
          <p:nvPr/>
        </p:nvSpPr>
        <p:spPr>
          <a:xfrm>
            <a:off x="8019288" y="2350008"/>
            <a:ext cx="3886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C98ABFC5-98E5-C778-8AC9-75C575684CE2}"/>
              </a:ext>
            </a:extLst>
          </p:cNvPr>
          <p:cNvSpPr txBox="1"/>
          <p:nvPr/>
        </p:nvSpPr>
        <p:spPr>
          <a:xfrm>
            <a:off x="7882128" y="2770632"/>
            <a:ext cx="39684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What river delta municipality has about 1,456,779 residents? → Which city located in a river delta boasts a population of approximately 1,456,779 people?</a:t>
            </a:r>
            <a:endParaRPr sz="1300" b="0" i="0" dirty="0">
              <a:solidFill>
                <a:srgbClr val="1A1F2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7069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Match the method to the corpus.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Short synthetic answer pages + long distractors drove every choice: whole-page units, capped BM25, blend-not-replace.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Hybrid + </a:t>
            </a:r>
            <a:r>
              <a:rPr sz="1700" b="1" i="0" dirty="0" err="1">
                <a:solidFill>
                  <a:srgbClr val="C87A16"/>
                </a:solidFill>
                <a:latin typeface="Calibri"/>
              </a:rPr>
              <a:t>rerank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, each fixing a distinct failure.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Dense recovers paraphrase, BM25 nails exact facts, the cross-encoder fixes ordering: 0.329 → 0.422 → 0.447 → 0.485.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Ordering, not recall, was the bottleneck.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recall@100 ≈ 0.93 and oracle ≈ 0.94 vs. hybrid 0.45 — the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reranker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closes that gap.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Small beat big; blend beat replace.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MS-MARCO L-6 transferred better than larger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rerankers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; a hybrid prior rescued the templated multi-entity queries.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 i="0" dirty="0">
                <a:solidFill>
                  <a:srgbClr val="5C6673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C87A16"/>
                </a:solidFill>
                <a:latin typeface="Calibri"/>
              </a:rPr>
              <a:t>Tuned honestly on a tiny set.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With only 29 queries we adopted the robust region center, not the noisy argmax — final mean NDCG@10 = </a:t>
            </a:r>
            <a:r>
              <a:rPr sz="1700" b="1" i="0" dirty="0">
                <a:solidFill>
                  <a:srgbClr val="8FE0B0"/>
                </a:solidFill>
                <a:latin typeface="Calibri"/>
              </a:rPr>
              <a:t>0.4854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.</a:t>
            </a:r>
            <a:endParaRPr lang="en-US" sz="1700" b="0" i="0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endParaRPr sz="17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1740</Words>
  <Application>Microsoft Office PowerPoint</Application>
  <PresentationFormat>מסך רחב</PresentationFormat>
  <Paragraphs>160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טל קרייצר</cp:lastModifiedBy>
  <cp:revision>3</cp:revision>
  <dcterms:created xsi:type="dcterms:W3CDTF">2013-01-27T09:14:16Z</dcterms:created>
  <dcterms:modified xsi:type="dcterms:W3CDTF">2026-06-19T14:13:14Z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1b9bfc-c426-492e-a46c-1a922d5fe54b_Enabled">
    <vt:lpwstr>true</vt:lpwstr>
  </property>
  <property fmtid="{D5CDD505-2E9C-101B-9397-08002B2CF9AE}" pid="3" name="MSIP_Label_701b9bfc-c426-492e-a46c-1a922d5fe54b_SetDate">
    <vt:lpwstr>2026-06-19T12:37:16Z</vt:lpwstr>
  </property>
  <property fmtid="{D5CDD505-2E9C-101B-9397-08002B2CF9AE}" pid="4" name="MSIP_Label_701b9bfc-c426-492e-a46c-1a922d5fe54b_Method">
    <vt:lpwstr>Privileged</vt:lpwstr>
  </property>
  <property fmtid="{D5CDD505-2E9C-101B-9397-08002B2CF9AE}" pid="5" name="MSIP_Label_701b9bfc-c426-492e-a46c-1a922d5fe54b_Name">
    <vt:lpwstr>בלמ"ס</vt:lpwstr>
  </property>
  <property fmtid="{D5CDD505-2E9C-101B-9397-08002B2CF9AE}" pid="6" name="MSIP_Label_701b9bfc-c426-492e-a46c-1a922d5fe54b_SiteId">
    <vt:lpwstr>78820852-55fa-450b-908d-45c0d911e76b</vt:lpwstr>
  </property>
  <property fmtid="{D5CDD505-2E9C-101B-9397-08002B2CF9AE}" pid="7" name="MSIP_Label_701b9bfc-c426-492e-a46c-1a922d5fe54b_ActionId">
    <vt:lpwstr>335769ba-e4a3-4a28-9d3a-c9922bb91d0f</vt:lpwstr>
  </property>
  <property fmtid="{D5CDD505-2E9C-101B-9397-08002B2CF9AE}" pid="8" name="MSIP_Label_701b9bfc-c426-492e-a46c-1a922d5fe54b_ContentBits">
    <vt:lpwstr>1</vt:lpwstr>
  </property>
  <property fmtid="{D5CDD505-2E9C-101B-9397-08002B2CF9AE}" pid="9" name="MSIP_Label_701b9bfc-c426-492e-a46c-1a922d5fe54b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- בלמ"ס -</vt:lpwstr>
  </property>
</Properties>
</file>